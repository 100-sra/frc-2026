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263A"/>
          </a:solidFill>
          <a:ln w="12700">
            <a:solidFill>
              <a:srgbClr val="1626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731520"/>
            <a:ext cx="1645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822960"/>
            <a:ext cx="2011680" cy="32918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229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D1B2A"/>
                </a:solidFill>
              </a:rPr>
              <a:t>TEAM 3091  ·  REBUILT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6217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FRC 2026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Robot Code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student-focused walkthrough of the command-based architecture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Team 3091's 2026 competition robot.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46451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WPILib 2026  ·  Java 17  ·  REVLib  ·  PhotonVision  ·  Command-Based Framework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9A7"/>
                </a:solidFill>
              </a:rPr>
              <a:t>WHAT WE'LL COVER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475488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9903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3990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5FA"/>
                </a:solidFill>
              </a:rPr>
              <a:t>What is FRC &amp; Command-Based Programming?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475488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0574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5FA"/>
                </a:solidFill>
              </a:rPr>
              <a:t>Project Structure &amp; File Overview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15768"/>
            <a:ext cx="475488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1576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7157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5FA"/>
                </a:solidFill>
              </a:rPr>
              <a:t>The Robot Lifecycle — TimedRobot Modes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374136"/>
            <a:ext cx="475488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741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337413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5FA"/>
                </a:solidFill>
              </a:rPr>
              <a:t>RobotContainer — The Command Dispatcher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032504"/>
            <a:ext cx="475488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3250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403250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5FA"/>
                </a:solidFill>
              </a:rPr>
              <a:t>Constants.java — Centralized Configuration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1399032"/>
            <a:ext cx="475488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39903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21808" y="13990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5FA"/>
                </a:solidFill>
              </a:rPr>
              <a:t>Subsystems — Drive, Collector, Loader, Shooter, CollectorArm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2057400"/>
            <a:ext cx="475488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05740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21808" y="20574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5FA"/>
                </a:solidFill>
              </a:rPr>
              <a:t>Vision Subsystem &amp; Distance Estimation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54880" y="2715768"/>
            <a:ext cx="475488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71576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21808" y="27157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5FA"/>
                </a:solidFill>
              </a:rPr>
              <a:t>Commands — How Robots Respond to Input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3374136"/>
            <a:ext cx="475488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3741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09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21808" y="337413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5FA"/>
                </a:solidFill>
              </a:rPr>
              <a:t>Autonomous Routines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54880" y="4032504"/>
            <a:ext cx="475488" cy="40233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03250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21808" y="403250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5FA"/>
                </a:solidFill>
              </a:rPr>
              <a:t>Controller Bindings &amp; Hardware Map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01 — 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FRC &amp; Command-Based Programming?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402336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89888"/>
            <a:ext cx="64008" cy="3383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727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727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FIRST Robotics Competition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212848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FRC is a high-school robotics competition where students build full-size robots to compete on a game field each January–April.
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Robots are programmed in Java, C++, or Python using the </a:t>
            </a:r>
            <a:pPr indent="0" marL="0">
              <a:buNone/>
            </a:pPr>
            <a:r>
              <a:rPr lang="en-US" sz="1250" b="1" dirty="0">
                <a:solidFill>
                  <a:srgbClr val="009E84"/>
                </a:solidFill>
              </a:rPr>
              <a:t>WPILib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 framework provided by Worcester Polytechnic Institute.
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The robot runs on a </a:t>
            </a:r>
            <a:pPr indent="0" marL="0">
              <a:buNone/>
            </a:pPr>
            <a:r>
              <a:rPr lang="en-US" sz="1250" b="1" dirty="0">
                <a:solidFill>
                  <a:srgbClr val="009E84"/>
                </a:solidFill>
              </a:rPr>
              <a:t>roboRIO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 — a real-time Linux controller that runs your Java code at 50 Hz (every 20ms).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1389888"/>
            <a:ext cx="402336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389888"/>
            <a:ext cx="64008" cy="3383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72768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5727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Command-Based Framework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46320" y="2212848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WPILib's </a:t>
            </a:r>
            <a:pPr indent="0" marL="0">
              <a:buNone/>
            </a:pPr>
            <a:r>
              <a:rPr lang="en-US" sz="1250" b="1" dirty="0">
                <a:solidFill>
                  <a:srgbClr val="009E84"/>
                </a:solidFill>
              </a:rPr>
              <a:t>command-based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 architecture separates robot code into two key concepts:
</a:t>
            </a:r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</a:rPr>
              <a:t>Subsystems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 — Hardware components (motors, sensors). One class per mechanism. Only one command can use a subsystem at a time.
</a:t>
            </a:r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</a:rPr>
              <a:t>Commands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 — Actions that use subsystems. They have </a:t>
            </a:r>
            <a:pPr indent="0" marL="0">
              <a:buNone/>
            </a:pPr>
            <a:r>
              <a:rPr lang="en-US" sz="1250" i="1" dirty="0">
                <a:solidFill>
                  <a:srgbClr val="2C3E50"/>
                </a:solidFill>
              </a:rPr>
              <a:t>initialize()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, </a:t>
            </a:r>
            <a:pPr indent="0" marL="0">
              <a:buNone/>
            </a:pPr>
            <a:r>
              <a:rPr lang="en-US" sz="1250" i="1" dirty="0">
                <a:solidFill>
                  <a:srgbClr val="2C3E50"/>
                </a:solidFill>
              </a:rPr>
              <a:t>execute()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, </a:t>
            </a:r>
            <a:pPr indent="0" marL="0">
              <a:buNone/>
            </a:pPr>
            <a:r>
              <a:rPr lang="en-US" sz="1250" i="1" dirty="0">
                <a:solidFill>
                  <a:srgbClr val="2C3E50"/>
                </a:solidFill>
              </a:rPr>
              <a:t>end()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, and </a:t>
            </a:r>
            <a:pPr indent="0" marL="0">
              <a:buNone/>
            </a:pPr>
            <a:r>
              <a:rPr lang="en-US" sz="1250" i="1" dirty="0">
                <a:solidFill>
                  <a:srgbClr val="2C3E50"/>
                </a:solidFill>
              </a:rPr>
              <a:t>isFinished()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The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9E84"/>
                </a:solidFill>
              </a:rPr>
              <a:t>CommandScheduler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</a:rPr>
              <a:t> manages everything automatically every 20ms loop.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02 — PROJECT STRUCTURE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572000" cy="3520440"/>
          </a:xfrm>
          <a:prstGeom prst="rect">
            <a:avLst/>
          </a:prstGeom>
          <a:solidFill>
            <a:srgbClr val="1A25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4297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src/main/java/frc/robot/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Main.java           ← Entry 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Robot.java          ← TimedRobot lifecycle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RobotContainer.java ← Wires everything together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Constants.java      ← All hardware config values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commands/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TeleopDrive.java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RunCollector.java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RunCollectorArm.java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RunLoader.java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RunShooter.java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Autos.java      ← Auto routines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subsystems/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Drive.java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Collector.java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CollectorArm.java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Loader.java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Shooter.java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Vision.java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77840" y="1417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DD8"/>
                </a:solidFill>
              </a:rPr>
              <a:t>Main.java is a single line — just starts the robot.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166360" y="2167128"/>
            <a:ext cx="361188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dash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2585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2240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DD8"/>
                </a:solidFill>
              </a:rPr>
              <a:t>Robot.java is the heartbeat. It calls the CommandScheduler every 20ms.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166360" y="2990088"/>
            <a:ext cx="361188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dash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08152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77840" y="3063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DD8"/>
                </a:solidFill>
              </a:rPr>
              <a:t>RobotContainer wires subsystems + commands + controller bindings.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166360" y="3813048"/>
            <a:ext cx="361188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dash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9044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8862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DD8"/>
                </a:solidFill>
              </a:rPr>
              <a:t>Constants.java holds all motor ports, speeds, and tuning values in one place.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03 — ROBOT LIFECYCLE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Robot Lifecycle — TimedRobot Modes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011680" cy="47548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DISABLED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47088"/>
            <a:ext cx="201168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8899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Robot on but not moving.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disabledInit() → disabledPeriodic()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Commands still scheduled but motors held at 0.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371600"/>
            <a:ext cx="2011680" cy="475488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3716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AUTONOMOUS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14600" y="1847088"/>
            <a:ext cx="201168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87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92024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Pre-programmed 15-second period.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autonomousInit() schedules the auto command.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autonomousPeriodic() runs every 20ms.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2011680" cy="475488"/>
          </a:xfrm>
          <a:prstGeom prst="rect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716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TELEOP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847088"/>
            <a:ext cx="201168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9E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92024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Driver-controlled period.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teleopInit() cancels the auto command.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Controller bindings take over.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1371600"/>
            <a:ext cx="2011680" cy="47548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3716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TEST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12280" y="1847088"/>
            <a:ext cx="201168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92024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Development mode.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testInit() cancels ALL running commands.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Useful for testing individual mechanisms.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23160" y="1609344"/>
            <a:ext cx="13716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609344"/>
            <a:ext cx="13716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1609344"/>
            <a:ext cx="13716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703320"/>
            <a:ext cx="84124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03320"/>
            <a:ext cx="64008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0"/>
            <a:ext cx="411480" cy="4114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51560" y="37673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CommandScheduler.getInstance().run()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51560" y="40965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Called every 20ms in robotPeriodic(). Polls button triggers, runs active commands, checks subsystem default commands, and calls all subsystem periodic() methods. This single line IS the entire robot's brain loop.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03 — ROBOT LIFECYCLE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Main.java &amp; Robot.java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114800" cy="1005840"/>
          </a:xfrm>
          <a:prstGeom prst="rect">
            <a:avLst/>
          </a:prstGeom>
          <a:solidFill>
            <a:srgbClr val="1A25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1907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void main(String... args)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RobotBase.startRobot(Robot::new);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That's it! WPILib handles the rest.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8"/>
                </a:solidFill>
              </a:rPr>
              <a:t>Main.java is intentionally minimal. WPILib's RobotBase takes a factory method and manages the main loop internally.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1298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Robot.java — key sections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627632"/>
            <a:ext cx="4114800" cy="3108960"/>
          </a:xfrm>
          <a:prstGeom prst="rect">
            <a:avLst/>
          </a:prstGeom>
          <a:solidFill>
            <a:srgbClr val="1A25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719072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Robot()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m_robotContainer = new RobotContainer();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CameraServer.startAutomaticCapture();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robotPeriodic()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CommandScheduler.getInstance().run();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autonomousInit()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m_autonomousCommand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m_robotContainer.getAutonomousCommand();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(m_autonomousCommand != null)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CommandScheduler.getInstance()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.schedule(m_autonomousCommand);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teleopInit()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(m_autonomousCommand != null)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m_autonomousCommand.cancel();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401568"/>
            <a:ext cx="4114800" cy="1371600"/>
          </a:xfrm>
          <a:prstGeom prst="rect">
            <a:avLst/>
          </a:prstGeom>
          <a:solidFill>
            <a:srgbClr val="16263A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93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► Key Insight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CDD8"/>
                </a:solidFill>
              </a:rPr>
              <a:t>Robot.java's constructor creates RobotContainer once, and also starts the camera stream. Every other line is just calling into the CommandScheduler or managing the auto command lifecycle.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04 — ROBOTCONTAINER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RobotContainer.java — The Glue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237744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898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</a:rPr>
              <a:t>SUBSYSTEMS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377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Drive.java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2377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86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Collector.java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2377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43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CollectorArm.java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2377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00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Loader.java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2377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57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Shooter.java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114800"/>
            <a:ext cx="2377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14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Vision.java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1389888"/>
            <a:ext cx="2651760" cy="3291840"/>
          </a:xfrm>
          <a:prstGeom prst="rect">
            <a:avLst/>
          </a:prstGeom>
          <a:solidFill>
            <a:srgbClr val="0D1B2A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554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RobotContainer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20299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1. Instantiate 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   subsystems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37560" y="25237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2. Create both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   PS4 controllers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30175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3. Set default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   command for Drive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35112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4. configureBindings()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   — map buttons→commands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37560" y="40050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5. getAutonomousCommand()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   — returns auto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82512" y="1389888"/>
            <a:ext cx="237744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138988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</a:rPr>
              <a:t>COMMANDS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82512" y="1828800"/>
            <a:ext cx="2377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8288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TeleopDrive.java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82512" y="2286000"/>
            <a:ext cx="2377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2860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RunCollector.java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82512" y="2743200"/>
            <a:ext cx="2377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743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RunCollectorArm.java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82512" y="3200400"/>
            <a:ext cx="2377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2004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RunLoader.java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82512" y="3657600"/>
            <a:ext cx="2377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6576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RunShooter.java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82512" y="4114800"/>
            <a:ext cx="2377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1148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Autos.java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0" y="3017520"/>
            <a:ext cx="50292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3017520"/>
            <a:ext cx="484632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4636008"/>
            <a:ext cx="8412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NOTE: Think of RobotContainer as the main() of robot logic — it doesn't DO anything directly; it just wires things together.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05 — CONSTANTS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Constants.java — Centralized Configuration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669280" cy="3566160"/>
          </a:xfrm>
          <a:prstGeom prst="rect">
            <a:avLst/>
          </a:prstGeom>
          <a:solidFill>
            <a:srgbClr val="1A25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5394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class Constants {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class DriveConstants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int    kLeftFrontMotorPort  = 0;  // PWM ports 0-3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int    kRightFrontMotorPort = 2;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boolean kLeftMotorsInverted = true;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kJoystickDeadband    = 0.01;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kMaxSpeed            = 1.0;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kTriggerScale        = 0.8; // Triggers run at 80% max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class ShooterConstants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int    kShooterMotorPort   = 5;   // PWM port 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kShooterPresetMin   = 0.1; // X button  — 10%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kShooterPresetLow   = 0.4; // D-pad ←  — 40%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kShooterPresetHigh  = 0.7; // D-pad →  — 70%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class CollectorArmConstants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kCollectorArmRetractSpeed   =  0.5;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kCollectorArmExtendSpeed    = -0.3; // negative = extend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kCollectorArmExtendRampRate = 0.015; // per 20ms cycle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final double kCollectorArmHoldSpeed      = 0.05; // prevents slack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99632" y="1325880"/>
            <a:ext cx="2560320" cy="804672"/>
          </a:xfrm>
          <a:prstGeom prst="rect">
            <a:avLst/>
          </a:prstGeom>
          <a:solidFill>
            <a:srgbClr val="16263A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7648" y="1380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</a:rPr>
              <a:t>No magic numbers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27648" y="1645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Every motor port and speed has a name. Reading the code tells you what's happening.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9632" y="2203704"/>
            <a:ext cx="2560320" cy="804672"/>
          </a:xfrm>
          <a:prstGeom prst="rect">
            <a:avLst/>
          </a:prstGeom>
          <a:solidFill>
            <a:srgbClr val="16263A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2258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</a:rPr>
              <a:t>Single source of truth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27648" y="2523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Change a port number in one place — all code that uses it updates automatically.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9632" y="3081528"/>
            <a:ext cx="2560320" cy="804672"/>
          </a:xfrm>
          <a:prstGeom prst="rect">
            <a:avLst/>
          </a:prstGeom>
          <a:solidFill>
            <a:srgbClr val="16263A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31363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</a:rPr>
              <a:t>Easy tuning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27648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Drivers can adjust kMaxSpeed or kJoystickDeadband without touching command logic.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9632" y="3959352"/>
            <a:ext cx="2560320" cy="804672"/>
          </a:xfrm>
          <a:prstGeom prst="rect">
            <a:avLst/>
          </a:prstGeom>
          <a:solidFill>
            <a:srgbClr val="16263A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40142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A7"/>
                </a:solidFill>
              </a:rPr>
              <a:t>Static inner classes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27648" y="42793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Groups related constants. DriveConstants only holds drive values.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06 — SUBSYSTEMS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Subsystems — Hardware Abstraction Layer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80"/>
                </a:solidFill>
              </a:rPr>
              <a:t>Each subsystem wraps one piece of hardware. Commands call subsystem methods — they never touch motors directly.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265176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19072"/>
            <a:ext cx="64008" cy="14447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4708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837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Drive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20848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PWM 0-3  ·  Spark (PWM)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30352" y="23774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4-motor tank drive. Left and right MotorControllerGroups. tankDrive(left, right) method.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00400" y="1719072"/>
            <a:ext cx="265176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719072"/>
            <a:ext cx="64008" cy="14447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84708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94760" y="1837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Collector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794760" y="20848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 ID 3  ·  REV SPARK MAX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364992" y="23774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Intake motor. run(speed), stop(). Only mechanism using CAN bus (brushless motor).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35040" y="1719072"/>
            <a:ext cx="265176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1719072"/>
            <a:ext cx="64008" cy="14447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84708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9400" y="1837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CollectorArm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629400" y="20848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PWM 6  ·  Spark (PWM)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199632" y="23774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Winds/unwinds a string to raise/lower collector. retract(), extend(), setSpeed(), stop().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65760" y="3291840"/>
            <a:ext cx="265176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65760" y="3291840"/>
            <a:ext cx="64008" cy="14447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419856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0120" y="3410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Loader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60120" y="36576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PWM 4  ·  Spark (PWM)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530352" y="39502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Feeds game pieces into the shooter. run(), run(speed), stop().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200400" y="3291840"/>
            <a:ext cx="265176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00400" y="3291840"/>
            <a:ext cx="64008" cy="14447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419856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794760" y="3410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Shooter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794760" y="36576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PWM 5  ·  Spark (PWM)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3364992" y="39502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Launches game pieces. run(speed), stop(). Used with preset speeds from Constants.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035040" y="3291840"/>
            <a:ext cx="2651760" cy="1444752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035040" y="3291840"/>
            <a:ext cx="64008" cy="14447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3419856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29400" y="3410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Vision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629400" y="36576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/ Network  ·  PhotonVision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6199632" y="395020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Detects targets, estimates distance, calculates required shooter speed via linear interpolation.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06 — DRIVE SUBSYSTEM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Drive.java — 4-Motor Tank Drive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5486400" cy="3657600"/>
          </a:xfrm>
          <a:prstGeom prst="rect">
            <a:avLst/>
          </a:prstGeom>
          <a:solidFill>
            <a:srgbClr val="1A25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Drive extends SubsystemBase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Spark m_leftFront, m_leftBack;    // PWM 0,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Spark m_rightFront, m_rightBack;  // PWM 2,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MotorControllerGroup m_leftMotors;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MotorControllerGroup m_rightMotors;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Drive()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m_leftMotors  = new MotorControllerGroup(m_leftFront, m_leftBack);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m_rightMotors = new MotorControllerGroup(m_rightFront, m_rightBack);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m_leftMotors.setInverted(DriveConstants.kLeftMotorsInverted);  // 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m_rightMotors.setInverted(false);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tankDrive(double leftSpeed, double rightSpeed)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Clamp to [-1.0, 1.0] and scale by kMaxSpeed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leftSpeed  = Math.max(-1.0, Math.min(1.0, leftSpeed))  * kMaxSpeed;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rightSpeed = Math.max(-1.0, Math.min(1.0, rightSpeed)) * kMaxSpeed;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m_leftMotors.set(leftSpeed);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m_rightMotors.set(rightSpeed);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periodic()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SmartDashboard.putNumber("Drive/Left Speed",  m_leftFront.get());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SmartDashboard.putNumber("Drive/Right Speed", m_rightFront.get());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504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SubsystemBase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35040" y="16276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Extends WPILib's base class. This registers the subsystem with the CommandScheduler and enables the periodic() callback.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0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MotorControllerGroup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0" y="25420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Groups two motors to run in sync. Setting one speed controls both left (or right) motors simultaneously.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35040" y="3182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setInverted(true)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34564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Left motors are inverted because they physically face the opposite direction on the robot chassis.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3504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periodic()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35040" y="43708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Called every 20ms automatically. Ideal for logging sensor data to SmartDashboard for debugging.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06 — SUBSYSTEMS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Collector &amp; Loader Subsystems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3520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3619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5361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Collector.java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2057400"/>
            <a:ext cx="3749040" cy="141732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10312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Collector extends SubsystemBase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SparkMax m_motor;  // CAN ID 3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Collector()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m_motor = new SparkMax(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CollectorConstants.kCollectorCanId,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MotorType.kBrushless);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run(double speed)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m_motor.set(speed);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stop() { m_motor.set(0.0);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3547872"/>
            <a:ext cx="3749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Uses REV SPARK MAX over CAN bus (not PWM). This brushless motor controller provides higher precision. The CAN protocol lets you daisy-chain many devices on two wires.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Operator L2 (analog trigger) controls speed proportionally. L1 runs in reverse to eject jammed pieces.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09160" y="1371600"/>
            <a:ext cx="402336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371600"/>
            <a:ext cx="64008" cy="3520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36192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5361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Loader.java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846320" y="2057400"/>
            <a:ext cx="3749040" cy="141732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37760" y="210312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Loader extends SubsystemBase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Spark m_motor;  // PWM 4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Loader()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m_motor = new Spark(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LoaderConstants.kLoaderMotorPort);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m_motor.setInverted(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LoaderConstants.kLoaderInverted);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run()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m_motor.set(LoaderConstants.kLoaderSpeed);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stop() { m_motor.set(0.0);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846320" y="3547872"/>
            <a:ext cx="3749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Simple PWM Spark motor controller. The loader feeds game pieces from storage into the shooter mechanism.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Operator Circle holds to feed. Operator Square reverses to unjam. Fixed speed defined in LoaderConstants.kLoaderSpeed = 1.0 (full power).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06 — COLLECTORARM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CollectorArm — Soft-Start Ramp Logic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5577840" cy="3520440"/>
          </a:xfrm>
          <a:prstGeom prst="rect">
            <a:avLst/>
          </a:prstGeom>
          <a:solidFill>
            <a:srgbClr val="1A25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53035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RunCollectorArm.java — the command that controls the arm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enum CollectorArmMode { RETRACT, STOP, EXTEND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execute()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(m_modeSupplier.get())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RETRACT -&gt;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m_rampedExtendSpeed = 0.0;  // Reset ramp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m_arm.retract();            // Full speed wind-up: +0.5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EXTEND -&gt;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Gradually ramp toward target extend speed each 20ms loop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Prevents a jerk from suddenly applying -0.3 (gravity assist)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double target = CollectorArmConstants.kCollectorArmExtendSpeed; // -0.3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m_rampedExtendSpeed = Math.max(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m_rampedExtendSpeed - kCollectorArmExtendRampRate,  // subtract 0.015/cycle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                                               // clamp at -0.3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m_arm.setSpeed(m_rampedExtendSpeed);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 -&gt;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m_arm.setSpeed(kCollectorArmHoldSpeed); // +0.05 — prevents string slack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0760" y="1353312"/>
            <a:ext cx="2743200" cy="1078992"/>
          </a:xfrm>
          <a:prstGeom prst="rect">
            <a:avLst/>
          </a:prstGeom>
          <a:solidFill>
            <a:srgbClr val="16263A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4264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Why ramp?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7373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Suddenly applying -0.3 power causes a jerk. Ramping from 0 to -0.3 over 20 cycles (~0.4 seconds) gives a smooth, controlled descent.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2542032"/>
            <a:ext cx="2743200" cy="1078992"/>
          </a:xfrm>
          <a:prstGeom prst="rect">
            <a:avLst/>
          </a:prstGeom>
          <a:solidFill>
            <a:srgbClr val="16263A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61518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Hold speed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2926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When no button is held, +0.05 keeps slight tension on the string. Without this, gravity unwinds the arm slowly.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3730752"/>
            <a:ext cx="2743200" cy="1078992"/>
          </a:xfrm>
          <a:prstGeom prst="rect">
            <a:avLst/>
          </a:prstGeom>
          <a:solidFill>
            <a:srgbClr val="16263A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8039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Enum mode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4114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An enum cleanly models the 3 states (RETRACT / STOP / EXTEND). The Supplier&lt;&gt; allows the command to receive the mode dynamically from a button.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06 — SHOOTER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Shooter Subsystem &amp; Speed Presets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2103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Shooter.java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3749040" cy="160020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10512"/>
            <a:ext cx="35661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Shooter extends SubsystemBase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Spark m_motor; // PWM 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run(double speed)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m_motor.set(speed);  // -1.0 to 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stop()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m_motor.set(0.0);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584448"/>
            <a:ext cx="40233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844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Speed Presets (from Constants.java)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986784"/>
          <a:ext cx="4023360" cy="100584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548640"/>
                <a:gridCol w="457200"/>
                <a:gridCol w="6400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Button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Constant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Power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Use Case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X button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kShooterPresetMin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0.1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10%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Close range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D-pad ←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kShooterPresetLow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0.4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40%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Medium range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D-pad →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kShooterPresetHigh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0.7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70%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Long range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R2 (analog)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trigger * 1.0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0-1.0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0-100%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Variable speed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709160" y="1371600"/>
            <a:ext cx="4023360" cy="3621024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371600"/>
            <a:ext cx="64008" cy="362102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RunShooter.java (command)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1773936"/>
            <a:ext cx="3749040" cy="137160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1801368"/>
            <a:ext cx="356616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RunShooter extends Command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Shooter m_shooter;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DoubleSupplier m_speed;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execute()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Normalize R2: [-1.0, 1.0] → [0.0, 1.0]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speed = (m_speed.getAsDouble()+1.0)/2.0;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m_shooter.run(speed);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end(boolean interrupted)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m_shooter.stop();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boolean isFinished() { return false;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846320" y="3200400"/>
            <a:ext cx="37490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The PS4 R2 axis reports [-1.0, 1.0] where -1.0 = fully released and +1.0 = fully pressed. The command normalizes this to [0.0, 1.0] before passing it to the shooter.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isFinished() returns false — this command runs forever until interrupted (button released). This is the pattern for hold-to-run commands.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addRequirements(shooter) tells the scheduler: this command owns the shooter subsystem — no other command can run the shooter while this one is active.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07 — 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Vision.java — PhotonVision Distance Estimation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669280" cy="3520440"/>
          </a:xfrm>
          <a:prstGeom prst="rect">
            <a:avLst/>
          </a:prstGeom>
          <a:solidFill>
            <a:srgbClr val="1A25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5394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Camera constants (measure on your actual robot)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final double CAMERA_HEIGHT_METERS = 0.4318; // 17 inches above floor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final double TARGET_HEIGHT_METERS = 1.8161; // Hub center height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final double CAMERA_PITCH_DEGREES = 0.0;    // Camera is level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double getDistanceMeters()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PhotonTrackedTarget target = result.getBestTarget();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targetPitchRadians = Math.toRadians(target.getPitch());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cameraPitchRadians = Math.toRadians(CAMERA_PITCH_DEGREES);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heightDelta        = TARGET_HEIGHT_METERS - CAMERA_HEIGHT_METERS;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Trigonometry: tan(angle) = opposite/adjacent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heightDelta / Math.tan(cameraPitchRadians + targetPitchRadians);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double getCalculatedShooterSpeed()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distance = getDistanceMeters();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Linear interpolation: map distance [1m..4m] → speed [0.5..1.0]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t = (distance - MIN_DISTANCE_METERS)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/ (MAX_DISTANCE_METERS - MIN_DISTANCE_METERS);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 = Math.max(0.0, Math.min(1.0, t)); // clamp to [0,1]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SPEED_AT_MIN_DISTANCE + t * (SPEED_AT_MAX_DISTANCE - SPEED_AT_MIN_DISTANCE);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2651760" cy="1078992"/>
          </a:xfrm>
          <a:prstGeom prst="rect">
            <a:avLst/>
          </a:prstGeom>
          <a:solidFill>
            <a:srgbClr val="16263A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3990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PhotonVision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170992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Open-source vision library. Runs on a co-processor (Raspberry Pi / OrangePi). Sends targeting data to the robot via NetworkTables.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2514600"/>
            <a:ext cx="2651760" cy="1078992"/>
          </a:xfrm>
          <a:prstGeom prst="rect">
            <a:avLst/>
          </a:prstGeom>
          <a:solidFill>
            <a:srgbClr val="16263A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5877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Trig formula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89864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distance = heightDelta / tan(cameraPitch + targetPitch). As target pitch increases (target appears higher), distance decreases.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3703320"/>
            <a:ext cx="2651760" cy="1078992"/>
          </a:xfrm>
          <a:prstGeom prst="rect">
            <a:avLst/>
          </a:prstGeom>
          <a:solidFill>
            <a:srgbClr val="16263A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7764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Linear Interp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408736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Maps a distance value linearly to a shooter speed. At 1m → 50% power. At 4m → 100% power. Clamped so it never exceeds bounds.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08 — COMMANDS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Commands — The 4-Method Contract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80"/>
                </a:solidFill>
              </a:rPr>
              <a:t>Every command in WPILib must implement four methods. Together they form a complete lifecycle.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4023360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19072"/>
            <a:ext cx="4023360" cy="4023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19072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176272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Called ONCE when the command is first scheduled. Use for setup — reset sensors, set initial motor speeds.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19072"/>
            <a:ext cx="4023360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9E8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719072"/>
            <a:ext cx="4023360" cy="402336"/>
          </a:xfrm>
          <a:prstGeom prst="rect">
            <a:avLst/>
          </a:prstGeom>
          <a:solidFill>
            <a:srgbClr val="009E84"/>
          </a:solidFill>
          <a:ln w="12700">
            <a:solidFill>
              <a:srgbClr val="009E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719072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execute()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73168" y="2176272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Called EVERY 20ms loop while the command is active. This is where motor control logic lives.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4023360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E870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91840"/>
            <a:ext cx="4023360" cy="402336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291840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end(boolean)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" y="3749040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Called when the command finishes or is interrupted. Always stop motors here. interrupted=true means another command took over.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4023360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291840"/>
            <a:ext cx="4023360" cy="40233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3291840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isFinished()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73168" y="3749040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Return true when the command should stop itself. For hold-to-run commands (like RunShooter), this returns false — the trigger interrupt handles stopping.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636008"/>
            <a:ext cx="8412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</a:rPr>
              <a:t>NOTE: Always call addRequirements(subsystem) in the constructor! This prevents two commands from fighting over the same motor.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08 — TELEOPDRIVE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TeleopDrive.java — Blended Tank Drive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5303520" cy="3547872"/>
          </a:xfrm>
          <a:prstGeom prst="rect">
            <a:avLst/>
          </a:prstGeom>
          <a:solidFill>
            <a:srgbClr val="1A25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50292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execute()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leftSpeed  = m_leftY.getAsDouble();   // Left joystick 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rightSpeed = m_rightY.getAsDouble();  // Right joystick 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PS4 triggers report [-1.0, 1.0] — normalize to [0.0, 1.0]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r2 = (m_r2Trigger.getAsDouble() + 1.0) / 2.0;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l2 = (m_l2Trigger.getAsDouble() + 1.0) / 2.0;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Apply deadbands — ignore tiny joystick drift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leftSpeed  = applyDeadband(leftSpeed,  DriveConstants.kJoystickDeadband);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rightSpeed = applyDeadband(rightSpeed, DriveConstants.kJoystickDeadband);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r2 = applyDeadband(r2, DriveConstants.kTriggerDeadband);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l2 = applyDeadband(l2, DriveConstants.kTriggerDeadband);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Scale triggers (0.8 max — gentler response)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r2 *= DriveConstants.kTriggerScale;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l2 *= DriveConstants.kTriggerScale;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Triggers add equal boost/brake to BOTH sides (straight forward/backward)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boost = r2 - l2;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leftSpeed  += boost;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rightSpeed += boost;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Clamp final values to [-1.0, 1.0]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leftSpeed  = Math.max(-1.0, Math.min(1.0, leftSpeed));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rightSpeed = Math.max(-1.0, Math.min(1.0, rightSpeed));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m_drive.tankDrive(leftSpeed, rightSpeed);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06440" y="13533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DoubleSupplier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06440" y="16276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Instead of passing a value directly, the constructor takes a lambda () -&gt; controller.getLeftY(). The command reads it fresh every 20ms.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06440" y="2240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Deadband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06440" y="251460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Controllers have physical drift — the joystick reports small non-zero values even at rest. Deadband ignores anything below 0.01.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06440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Blended control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06440" y="34015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R2/L2 add a constant boost to both sides. This lets you use joysticks for steering while holding R2 for speed — all blend additively.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06440" y="40142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Default command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06440" y="428853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TeleopDrive is set as Drive's default command. It runs automatically whenever no other command requires the Drive subsystem.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09 — AUTONOMOUS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Routines — Autos.java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" cy="3520440"/>
          </a:xfrm>
          <a:prstGeom prst="rect">
            <a:avLst/>
          </a:prstGeom>
          <a:solidFill>
            <a:srgbClr val="E87040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driveAndShoot()  — fallback auto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773936"/>
            <a:ext cx="3749040" cy="1828800"/>
          </a:xfrm>
          <a:prstGeom prst="rect">
            <a:avLst/>
          </a:prstGeom>
          <a:solidFill>
            <a:srgbClr val="1A2535"/>
          </a:solidFill>
          <a:ln w="12700">
            <a:solidFill>
              <a:srgbClr val="E87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01368"/>
            <a:ext cx="356616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SequentialCommandGroup(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1. Drive forward 2 seconds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Commands.run(() -&gt;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drive.tankDrive(0.5, 0.5), drive)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.withTimeout(2.0),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2. Stop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Commands.runOnce(drive::stop, drive),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3. Shoot + load simultaneously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Commands.parallel(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Commands.run(() -&gt;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shooter.run(-kShooterPresetHigh), shooter),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Commands.run(loader::run, loader)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).withTimeout(10.0),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4. Stop both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Commands.runOnce(shooter::stop),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Commands.runOnce(loader::stop)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502920" y="3657600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Simple timed sequence. No vision needed. Reliable fallback if the camera isn't working. Drive forward → stop → shoot for 10s.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02336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3520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E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visionDriveAndShoot()  — primary auto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1773936"/>
            <a:ext cx="3749040" cy="1828800"/>
          </a:xfrm>
          <a:prstGeom prst="rect">
            <a:avLst/>
          </a:prstGeom>
          <a:solidFill>
            <a:srgbClr val="1A25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801368"/>
            <a:ext cx="356616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SequentialCommandGroup(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1. Drive forward until target seen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   (or max 3 seconds — safety timeout)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Commands.run(() -&gt;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drive.tankDrive(0.4, 0.4), drive)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.until(vision::hasTarget)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.withTimeout(3.0),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2. Stop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Commands.runOnce(drive::stop, drive),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3. Shoot at vision-calculated speed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Commands.parallel(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Commands.run(() -&gt;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double spd = vision.getCalculatedShooterSpeed();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shooter.run(spd &gt; 0 ? spd : kShooterPresetHigh);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shooter),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Commands.run(loader::run, loader)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).withTimeout(10.0),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846320" y="3657600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Vision-guided auto. Drives toward the goal until the camera sees a target, then stops and shoots at the correct speed for the measured distance. Falls back to 70% power if no target found.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10 — CONTROLLER BINDINGS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Controller Bindings — configureBindings()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Driver Controller — Port 0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64208"/>
          <a:ext cx="4023360" cy="123444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Input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Function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8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DD8"/>
                          </a:solidFill>
                        </a:rPr>
                        <a:t>Left Joystick 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DD8"/>
                          </a:solidFill>
                        </a:rPr>
                        <a:t>Left side motors (tank drive)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DD8"/>
                          </a:solidFill>
                        </a:rPr>
                        <a:t>Right Joystick 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DD8"/>
                          </a:solidFill>
                        </a:rPr>
                        <a:t>Right side motors (tank drive)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DD8"/>
                          </a:solidFill>
                        </a:rPr>
                        <a:t>R2 (hold)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DD8"/>
                          </a:solidFill>
                        </a:rPr>
                        <a:t>Both sides forward (boost)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DD8"/>
                          </a:solidFill>
                        </a:rPr>
                        <a:t>L2 (hold)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8CDD8"/>
                          </a:solidFill>
                        </a:rPr>
                        <a:t>Both sides backward (brake)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29992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Operator Controller — Port 1</a:t>
            </a:r>
            <a:endParaRPr lang="en-US" sz="12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64992"/>
          <a:ext cx="4023360" cy="1627632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</a:tblGrid>
              <a:tr h="13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Input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Function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80"/>
                    </a:solidFill>
                  </a:tcPr>
                </a:tc>
              </a:tr>
              <a:tr h="13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R2 (analog)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Shooter — variable speed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13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L2 (analog)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Collector — variable speed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13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R1 (hold)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Shooter reverse (unjam)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13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L1 (hold)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Collector reverse (eject)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13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Circle (hold)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Loader — run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13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Square (hold)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Loader reverse (unjam)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13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X button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Shooter 10% preset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13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D-pad ↑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Collector arm retract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13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D-pad 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Collector arm extend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13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D-pad ←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Shooter 40% preset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  <a:tr h="13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D-pad →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CDD8"/>
                          </a:solidFill>
                        </a:rPr>
                        <a:t>Shooter 70% preset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6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A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663440" y="1298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How bindings work in code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63440" y="1664208"/>
            <a:ext cx="4114800" cy="3246120"/>
          </a:xfrm>
          <a:prstGeom prst="rect">
            <a:avLst/>
          </a:prstGeom>
          <a:solidFill>
            <a:srgbClr val="1A253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00600" y="1755648"/>
            <a:ext cx="3840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 command (runs when nothing else uses Drive)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m_drive.setDefaultCommand(new TeleopDrive(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m_drive,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() -&gt; m_driverController.getLeftY(),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() -&gt; m_driverController.getRightY(),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() -&gt; m_driverController.getR2Axis(),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() -&gt; m_driverController.getL2Axis()));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Trigger: run shooter while R2 is pressed past deadband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Trigger(() -&gt; m_operatorController.getR2Axis() &gt; -0.95)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.whileTrue(new RunShooter(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m_shooter,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-&gt; m_operatorController.getR2Axis()));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Button: run loader while Circle is held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m_operatorController.circle()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.whileTrue(new RunLoader(m_loader));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Inline command: reverse shooter while R1 held (unjam)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m_operatorController.R1().whileTrue(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m_shooter.runEnd(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-&gt; m_shooter.run(-kShooterPresetLow),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m_shooter::stop));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</a:rPr>
              <a:t>10 — HARDWARE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Map — Motor Controllers &amp; Ports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PWM Ports (roboRIO)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19072"/>
          <a:ext cx="4297680" cy="2304288"/>
        </p:xfrm>
        <a:graphic>
          <a:graphicData uri="http://schemas.openxmlformats.org/drawingml/2006/table">
            <a:tbl>
              <a:tblPr/>
              <a:tblGrid>
                <a:gridCol w="658368"/>
                <a:gridCol w="1353312"/>
                <a:gridCol w="1005840"/>
                <a:gridCol w="1280160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Port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Motor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Controller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Subsystem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PWM 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Left Drive Motor 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Spark (PWM)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Drive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PWM 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Left Drive Motor 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Spark (PWM)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Drive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PWM 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Right Drive Motor 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Spark (PWM)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Drive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PWM 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Right Drive Motor 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Spark (PWM)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Drive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PWM 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Loader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Spark (PWM)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Loader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PWM 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Shooter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Spark (PWM)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Shooter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PWM 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Collector Arm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Spark (PWM)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CollectorArm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13308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CAN Bus</a:t>
            </a:r>
            <a:endParaRPr lang="en-US" sz="13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480560"/>
          <a:ext cx="4297680" cy="566928"/>
        </p:xfrm>
        <a:graphic>
          <a:graphicData uri="http://schemas.openxmlformats.org/drawingml/2006/table">
            <a:tbl>
              <a:tblPr/>
              <a:tblGrid>
                <a:gridCol w="658368"/>
                <a:gridCol w="1353312"/>
                <a:gridCol w="1005840"/>
                <a:gridCol w="12801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CAN 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Motor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Controller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C9A7"/>
                          </a:solidFill>
                        </a:rPr>
                        <a:t>Subsystem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CAN 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Collector Intake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SPARK MAX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</a:rPr>
                        <a:t>Collector.java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709160" y="1371600"/>
            <a:ext cx="402336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709160" y="1371600"/>
            <a:ext cx="64008" cy="2103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536192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40680" y="15361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SmartDashboard Telemetry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846320" y="2011680"/>
            <a:ext cx="3749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The robot publishes live data to the Driver Station dashboard: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• Drive/Left Speed — current left motor output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• Drive/Right Speed — current right motor output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• Vision/HasTarget — camera sees a target?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• Vision/DistanceMeters — estimated distance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</a:rPr>
              <a:t>• Vision/ShooterSpeed — calculated shot power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709160" y="3584448"/>
            <a:ext cx="402336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709160" y="3584448"/>
            <a:ext cx="64008" cy="146304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89204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Vendor Libraries (vendordeps/)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892040" y="3977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REVLib — REV SPARK MAX support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WPILibNewCommands — Command2 framework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PhotonLib — PhotonVision integration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(+ many others for future expansion)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9A7"/>
                </a:solidFill>
              </a:rPr>
              <a:t>BUILD &amp; DEPLOY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Code onto the Robot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Build the 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1737360"/>
            <a:ext cx="3200400" cy="329184"/>
          </a:xfrm>
          <a:prstGeom prst="rect">
            <a:avLst/>
          </a:prstGeom>
          <a:solidFill>
            <a:srgbClr val="1A253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7373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./gradlew build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43400" y="141732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8"/>
                </a:solidFill>
              </a:rPr>
              <a:t>Compiles Java, checks for errors. Fix anything in the Problems tab in VS Code before deploying.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1947672"/>
            <a:ext cx="0" cy="365760"/>
          </a:xfrm>
          <a:prstGeom prst="line">
            <a:avLst/>
          </a:prstGeom>
          <a:noFill/>
          <a:ln w="12700">
            <a:solidFill>
              <a:srgbClr val="4A608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760" y="2359152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3134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Connect to robot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2633472"/>
            <a:ext cx="3200400" cy="329184"/>
          </a:xfrm>
          <a:prstGeom prst="rect">
            <a:avLst/>
          </a:prstGeom>
          <a:solidFill>
            <a:srgbClr val="1A253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63347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10.30.91.2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43400" y="231343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8"/>
                </a:solidFill>
              </a:rPr>
              <a:t>WiFi: connect to 3091-Robot. USB: plug directly into roboRIO USB-B. Ethernet: static IP 10.30.91.5.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2843784"/>
            <a:ext cx="0" cy="365760"/>
          </a:xfrm>
          <a:prstGeom prst="line">
            <a:avLst/>
          </a:prstGeom>
          <a:noFill/>
          <a:ln w="12700">
            <a:solidFill>
              <a:srgbClr val="4A608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65760" y="3255264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0120" y="3529584"/>
            <a:ext cx="3200400" cy="329184"/>
          </a:xfrm>
          <a:prstGeom prst="rect">
            <a:avLst/>
          </a:prstGeom>
          <a:solidFill>
            <a:srgbClr val="1A253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352958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./gradlew deploy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43400" y="3209544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8"/>
                </a:solidFill>
              </a:rPr>
              <a:t>Uploads compiled code to the roboRIO. Ends with BUILD SUCCESSFUL. Robot automatically restarts code.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739896"/>
            <a:ext cx="0" cy="365760"/>
          </a:xfrm>
          <a:prstGeom prst="line">
            <a:avLst/>
          </a:prstGeom>
          <a:noFill/>
          <a:ln w="12700">
            <a:solidFill>
              <a:srgbClr val="4A608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65760" y="4151376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41056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Simulate (no robot)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60120" y="4425696"/>
            <a:ext cx="3200400" cy="329184"/>
          </a:xfrm>
          <a:prstGeom prst="rect">
            <a:avLst/>
          </a:prstGeom>
          <a:solidFill>
            <a:srgbClr val="1A2535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442569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./gradlew simulateJava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43400" y="4105656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DD8"/>
                </a:solidFill>
              </a:rPr>
              <a:t>Runs robot code on your laptop. Useful for testing command logic without real hardware.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636008"/>
            <a:ext cx="8412480" cy="347472"/>
          </a:xfrm>
          <a:prstGeom prst="rect">
            <a:avLst/>
          </a:prstGeom>
          <a:solidFill>
            <a:srgbClr val="16263A"/>
          </a:solidFill>
          <a:ln w="12700">
            <a:solidFill>
              <a:srgbClr val="1626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NOTE: Gradle is the build tool. It downloads dependencies, compiles Java, and packages the code for the roboRIO. You don't need to install Gradle — gradlew is bundled.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9A7"/>
                </a:solidFill>
              </a:rPr>
              <a:t>KEY CONCEPTS 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Should Know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4114800" cy="1078992"/>
          </a:xfrm>
          <a:prstGeom prst="rect">
            <a:avLst/>
          </a:prstGeom>
          <a:solidFill>
            <a:srgbClr val="16263A"/>
          </a:solidFill>
          <a:ln w="10160">
            <a:solidFill>
              <a:srgbClr val="00C9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007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81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Command-Based Architecture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79222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Subsystems own hardware. Commands borrow subsystems. The Scheduler manages it all at 50 Hz.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2578608"/>
            <a:ext cx="4114800" cy="1078992"/>
          </a:xfrm>
          <a:prstGeom prst="rect">
            <a:avLst/>
          </a:prstGeom>
          <a:solidFill>
            <a:srgbClr val="16263A"/>
          </a:solidFill>
          <a:ln w="10160">
            <a:solidFill>
              <a:srgbClr val="00C9A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895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6700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Subsystem = Hardware Wrapper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60120" y="298094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Each subsystem is one mechanism. Methods like tankDrive(), run(), stop() are the only way to touch motors.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5760" y="3767328"/>
            <a:ext cx="4114800" cy="1078992"/>
          </a:xfrm>
          <a:prstGeom prst="rect">
            <a:avLst/>
          </a:prstGeom>
          <a:solidFill>
            <a:srgbClr val="16263A"/>
          </a:solidFill>
          <a:ln w="10160">
            <a:solidFill>
              <a:srgbClr val="00C9A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7822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38587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Commands are Actions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60120" y="416966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execute() runs every 20ms. isFinished() controls when to stop. end() always cleans up.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754880" y="1389888"/>
            <a:ext cx="4114800" cy="1078992"/>
          </a:xfrm>
          <a:prstGeom prst="rect">
            <a:avLst/>
          </a:prstGeom>
          <a:solidFill>
            <a:srgbClr val="16263A"/>
          </a:solidFill>
          <a:ln w="10160">
            <a:solidFill>
              <a:srgbClr val="00C9A7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0078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1481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Constants.java = Single Source of Truth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349240" y="179222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Change a value in one place. All subsystems and commands read from there.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754880" y="2578608"/>
            <a:ext cx="4114800" cy="1078992"/>
          </a:xfrm>
          <a:prstGeom prst="rect">
            <a:avLst/>
          </a:prstGeom>
          <a:solidFill>
            <a:srgbClr val="16263A"/>
          </a:solidFill>
          <a:ln w="10160">
            <a:solidFill>
              <a:srgbClr val="00C9A7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889504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9240" y="26700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Triggers vs. Default Commands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349240" y="298094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Buttons create Triggers that run commands while held. Default commands run when nothing else is active.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754880" y="3767328"/>
            <a:ext cx="4114800" cy="1078992"/>
          </a:xfrm>
          <a:prstGeom prst="rect">
            <a:avLst/>
          </a:prstGeom>
          <a:solidFill>
            <a:srgbClr val="16263A"/>
          </a:solidFill>
          <a:ln w="10160">
            <a:solidFill>
              <a:srgbClr val="00C9A7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078224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49240" y="38587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Vision = Distance → Speed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349240" y="416966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8CDD8"/>
                </a:solidFill>
              </a:rPr>
              <a:t>PhotonVision provides target pitch. Trigonometry converts pitch to distance. Linear interpolation maps distance to motor speed.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6263A"/>
          </a:solidFill>
          <a:ln w="12700">
            <a:solidFill>
              <a:srgbClr val="1626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68580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731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DD8"/>
                </a:solidFill>
              </a:rPr>
              <a:t>Ideas for extending this codebase: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020824"/>
            <a:ext cx="2743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PID control to the shooter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51960" y="1965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DD8"/>
                </a:solidFill>
              </a:rPr>
              <a:t>Use a PID loop to hold the shooter at a target RPM instead of open-loop speed.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2478024"/>
            <a:ext cx="2743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an encoder to Drive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51960" y="2423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DD8"/>
                </a:solidFill>
              </a:rPr>
              <a:t>Use encoders to drive a precise distance in autonomous mode.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2935224"/>
            <a:ext cx="2743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Expand vision targeting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251960" y="2880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DD8"/>
                </a:solidFill>
              </a:rPr>
              <a:t>Add horizontal alignment — turn to center on the target before shooting.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3392424"/>
            <a:ext cx="2743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more autonomous routines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251960" y="3337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DD8"/>
                </a:solidFill>
              </a:rPr>
              <a:t>Create a SendableChooser on SmartDashboard to let drivers pick the auto at match start.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3849624"/>
            <a:ext cx="2743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limit switches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251960" y="3794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DD8"/>
                </a:solidFill>
              </a:rPr>
              <a:t>Prevent the collector arm from over-extending by adding a hardware limit switch stop.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48640" y="44622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Team 3091 · REBUILT · FRC 2026  —  docs.wpilib.org  ·  photonvision.org  ·  revrobotics.com/sparkmax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FRC 2026 Robot Code — Team 3091 Teaching Deck</dc:title>
  <dc:subject>PptxGenJS Presentation</dc:subject>
  <dc:creator>Team 3091 REBUILT</dc:creator>
  <cp:lastModifiedBy>Team 3091 REBUILT</cp:lastModifiedBy>
  <cp:revision>1</cp:revision>
  <dcterms:created xsi:type="dcterms:W3CDTF">2026-03-20T23:48:30Z</dcterms:created>
  <dcterms:modified xsi:type="dcterms:W3CDTF">2026-03-20T23:48:30Z</dcterms:modified>
</cp:coreProperties>
</file>